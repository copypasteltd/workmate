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1430000" cy="6429375"/>
  <p:notesSz cx="6429375" cy="11430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Synthetic proposal. Review actual native text and shapes in the PPTX. Font substitution in an editor requires a separate visual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Native rectangles, lines and text remain editable. These are process statements, not measured campaign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HTML/PDF are reviews from the same source. They are not generated by opening this PPTX in Microsoft PowerPoint. Install the included OFL regular and bold font faces and review in your target editor.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6F4"/>
        </a:solidFill>
      </p:bgPr>
    </p:bg>
    <p:spTree>
      <p:nvGrpSpPr>
        <p:cNvPr id="1" name=""/>
        <p:cNvGrpSpPr/>
        <p:nvPr/>
      </p:nvGrpSpPr>
      <p:grpSpPr>
        <a:xfrm>
          <a:off x="0" y="0"/>
          <a:ext cx="0" cy="0"/>
          <a:chOff x="0" y="0"/>
          <a:chExt cx="0" cy="0"/>
        </a:xfrm>
      </p:grpSpPr>
      <p:sp>
        <p:nvSpPr>
          <p:cNvPr id="3" name="label"/>
          <p:cNvSpPr/>
          <p:nvPr/>
        </p:nvSpPr>
        <p:spPr>
          <a:xfrm>
            <a:off x="609600" y="361950"/>
            <a:ext cx="10001250" cy="285750"/>
          </a:xfrm>
          <a:prstGeom prst="rect">
            <a:avLst/>
          </a:prstGeom>
          <a:noFill/>
          <a:ln/>
        </p:spPr>
        <p:txBody>
          <a:bodyPr wrap="square" lIns="0" tIns="0" rIns="0" bIns="0" rtlCol="0" anchor="t"/>
          <a:lstStyle/>
          <a:p>
            <a:pPr algn="l" indent="0" marL="0">
              <a:lnSpc>
                <a:spcPct val="140000"/>
              </a:lnSpc>
              <a:buNone/>
            </a:pPr>
            <a:r>
              <a:rPr lang="zh-TW" altLang="en-US" sz="1200" dirty="0">
                <a:solidFill>
                  <a:srgbClr val="566171"/>
                </a:solidFill>
                <a:latin typeface="CopyPaste Sans TC" pitchFamily="34" charset="0"/>
                <a:ea typeface="CopyPaste Sans TC" pitchFamily="34" charset="-122"/>
                <a:cs typeface="CopyPaste Sans TC" pitchFamily="34" charset="-120"/>
              </a:rPr>
              <a:t>COPYPASTE / WORKMATE    ·    模擬客戶提案</a:t>
            </a:r>
            <a:endParaRPr lang="zh-TW" sz="1200" dirty="0"/>
          </a:p>
        </p:txBody>
      </p:sp>
      <p:sp>
        <p:nvSpPr>
          <p:cNvPr id="4" name="footer"/>
          <p:cNvSpPr/>
          <p:nvPr/>
        </p:nvSpPr>
        <p:spPr>
          <a:xfrm>
            <a:off x="609600" y="5924550"/>
            <a:ext cx="10096500" cy="285750"/>
          </a:xfrm>
          <a:prstGeom prst="rect">
            <a:avLst/>
          </a:prstGeom>
          <a:noFill/>
          <a:ln/>
        </p:spPr>
        <p:txBody>
          <a:bodyPr wrap="square" lIns="0" tIns="0" rIns="0" bIns="0" rtlCol="0" anchor="t"/>
          <a:lstStyle/>
          <a:p>
            <a:pPr algn="l" indent="0" marL="0">
              <a:lnSpc>
                <a:spcPct val="140000"/>
              </a:lnSpc>
              <a:buNone/>
            </a:pPr>
            <a:r>
              <a:rPr lang="zh-TW" altLang="en-US" sz="1050" dirty="0">
                <a:solidFill>
                  <a:srgbClr val="566171"/>
                </a:solidFill>
                <a:latin typeface="CopyPaste Sans TC" pitchFamily="34" charset="0"/>
                <a:ea typeface="CopyPaste Sans TC" pitchFamily="34" charset="-122"/>
                <a:cs typeface="CopyPaste Sans TC" pitchFamily="34" charset="-120"/>
              </a:rPr>
              <a:t>固定源稿核對 · 可編輯文字及圖形 · 模擬內容</a:t>
            </a:r>
            <a:endParaRPr lang="zh-TW" sz="1050" dirty="0"/>
          </a:p>
        </p:txBody>
      </p:sp>
      <p:sp>
        <p:nvSpPr>
          <p:cNvPr id="5" name="title"/>
          <p:cNvSpPr/>
          <p:nvPr/>
        </p:nvSpPr>
        <p:spPr>
          <a:xfrm>
            <a:off x="609600" y="1238250"/>
            <a:ext cx="7810500" cy="2286000"/>
          </a:xfrm>
          <a:prstGeom prst="rect">
            <a:avLst/>
          </a:prstGeom>
          <a:noFill/>
          <a:ln/>
        </p:spPr>
        <p:txBody>
          <a:bodyPr wrap="square" lIns="0" tIns="0" rIns="0" bIns="0" rtlCol="0" anchor="t"/>
          <a:lstStyle/>
          <a:p>
            <a:pPr algn="l" indent="0" marL="0">
              <a:lnSpc>
                <a:spcPct val="140000"/>
              </a:lnSpc>
              <a:buNone/>
            </a:pPr>
            <a:r>
              <a:rPr lang="zh-TW" altLang="en-US" sz="4800" b="1" dirty="0">
                <a:solidFill>
                  <a:srgbClr val="171B22"/>
                </a:solidFill>
                <a:latin typeface="CopyPaste Sans TC" pitchFamily="34" charset="0"/>
                <a:ea typeface="CopyPaste Sans TC" pitchFamily="34" charset="-122"/>
                <a:cs typeface="CopyPaste Sans TC" pitchFamily="34" charset="-120"/>
              </a:rPr>
              <a:t>讓品牌想法</a:t>
            </a:r>
            <a:endParaRPr lang="zh-TW" sz="4800" dirty="0"/>
          </a:p>
          <a:p>
            <a:pPr algn="l" indent="0" marL="0">
              <a:lnSpc>
                <a:spcPct val="140000"/>
              </a:lnSpc>
              <a:buNone/>
            </a:pPr>
            <a:r>
              <a:rPr lang="zh-TW" altLang="en-US" sz="4800" b="1" dirty="0">
                <a:solidFill>
                  <a:srgbClr val="171B22"/>
                </a:solidFill>
                <a:latin typeface="CopyPaste Sans TC" pitchFamily="34" charset="0"/>
                <a:ea typeface="CopyPaste Sans TC" pitchFamily="34" charset="-122"/>
                <a:cs typeface="CopyPaste Sans TC" pitchFamily="34" charset="-120"/>
              </a:rPr>
              <a:t>成為下一個行動</a:t>
            </a:r>
            <a:endParaRPr lang="zh-TW" sz="4800" dirty="0"/>
          </a:p>
        </p:txBody>
      </p:sp>
      <p:sp>
        <p:nvSpPr>
          <p:cNvPr id="6" name="identity"/>
          <p:cNvSpPr/>
          <p:nvPr/>
        </p:nvSpPr>
        <p:spPr>
          <a:xfrm>
            <a:off x="9144000" y="1371600"/>
            <a:ext cx="1409700" cy="1409700"/>
          </a:xfrm>
          <a:custGeom>
            <a:avLst/>
            <a:gdLst/>
            <a:ahLst/>
            <a:cxnLst/>
            <a:rect l="l" t="t" r="r" b="b"/>
            <a:pathLst>
              <a:path w="1409700" h="1409700">
                <a:moveTo>
                  <a:pt x="0" y="0"/>
                </a:moveTo>
                <a:lnTo>
                  <a:pt x="944499" y="0"/>
                </a:lnTo>
                <a:lnTo>
                  <a:pt x="1409700" y="465201"/>
                </a:lnTo>
                <a:lnTo>
                  <a:pt x="1409700" y="1409700"/>
                </a:lnTo>
                <a:lnTo>
                  <a:pt x="465201" y="1409700"/>
                </a:lnTo>
                <a:lnTo>
                  <a:pt x="0" y="944499"/>
                </a:lnTo>
                <a:close/>
              </a:path>
            </a:pathLst>
          </a:custGeom>
          <a:solidFill>
            <a:srgbClr val="1F5EFF"/>
          </a:solidFill>
          <a:ln w="12700">
            <a:solidFill>
              <a:srgbClr val="FFFFFF">
                <a:alpha val="0"/>
              </a:srgbClr>
            </a:solidFill>
            <a:prstDash val="solid"/>
          </a:ln>
        </p:spPr>
      </p:sp>
      <p:sp>
        <p:nvSpPr>
          <p:cNvPr id="7" name="callout"/>
          <p:cNvSpPr/>
          <p:nvPr/>
        </p:nvSpPr>
        <p:spPr>
          <a:xfrm>
            <a:off x="609600" y="4095750"/>
            <a:ext cx="9944100" cy="1295400"/>
          </a:xfrm>
          <a:prstGeom prst="roundRect">
            <a:avLst>
              <a:gd name="adj" fmla="val 10381"/>
            </a:avLst>
          </a:prstGeom>
          <a:solidFill>
            <a:srgbClr val="1F5EFF"/>
          </a:solidFill>
          <a:ln w="12700">
            <a:solidFill>
              <a:srgbClr val="FFFFFF">
                <a:alpha val="0"/>
              </a:srgbClr>
            </a:solidFill>
            <a:prstDash val="solid"/>
          </a:ln>
        </p:spPr>
      </p:sp>
      <p:sp>
        <p:nvSpPr>
          <p:cNvPr id="8" name="callout_copy"/>
          <p:cNvSpPr/>
          <p:nvPr/>
        </p:nvSpPr>
        <p:spPr>
          <a:xfrm>
            <a:off x="952500" y="4457700"/>
            <a:ext cx="9239250" cy="628650"/>
          </a:xfrm>
          <a:prstGeom prst="rect">
            <a:avLst/>
          </a:prstGeom>
          <a:noFill/>
          <a:ln/>
        </p:spPr>
        <p:txBody>
          <a:bodyPr wrap="square" lIns="0" tIns="0" rIns="0" bIns="0" rtlCol="0" anchor="t"/>
          <a:lstStyle/>
          <a:p>
            <a:pPr algn="l" indent="0" marL="0">
              <a:lnSpc>
                <a:spcPct val="140000"/>
              </a:lnSpc>
              <a:buNone/>
            </a:pPr>
            <a:r>
              <a:rPr lang="zh-TW" altLang="en-US" sz="2250" b="1" dirty="0">
                <a:solidFill>
                  <a:srgbClr val="FFFFFF"/>
                </a:solidFill>
                <a:latin typeface="CopyPaste Sans TC" pitchFamily="34" charset="0"/>
                <a:ea typeface="CopyPaste Sans TC" pitchFamily="34" charset="-122"/>
                <a:cs typeface="CopyPaste Sans TC" pitchFamily="34" charset="-120"/>
              </a:rPr>
              <a:t>把內容、設計和執行，放進同一個工作流程。</a:t>
            </a:r>
            <a:endParaRPr lang="zh-TW" sz="2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6F4"/>
        </a:solidFill>
      </p:bgPr>
    </p:bg>
    <p:spTree>
      <p:nvGrpSpPr>
        <p:cNvPr id="1" name=""/>
        <p:cNvGrpSpPr/>
        <p:nvPr/>
      </p:nvGrpSpPr>
      <p:grpSpPr>
        <a:xfrm>
          <a:off x="0" y="0"/>
          <a:ext cx="0" cy="0"/>
          <a:chOff x="0" y="0"/>
          <a:chExt cx="0" cy="0"/>
        </a:xfrm>
      </p:grpSpPr>
      <p:sp>
        <p:nvSpPr>
          <p:cNvPr id="3" name="label"/>
          <p:cNvSpPr/>
          <p:nvPr/>
        </p:nvSpPr>
        <p:spPr>
          <a:xfrm>
            <a:off x="609600" y="361950"/>
            <a:ext cx="10001250" cy="285750"/>
          </a:xfrm>
          <a:prstGeom prst="rect">
            <a:avLst/>
          </a:prstGeom>
          <a:noFill/>
          <a:ln/>
        </p:spPr>
        <p:txBody>
          <a:bodyPr wrap="square" lIns="0" tIns="0" rIns="0" bIns="0" rtlCol="0" anchor="t"/>
          <a:lstStyle/>
          <a:p>
            <a:pPr algn="l" indent="0" marL="0">
              <a:lnSpc>
                <a:spcPct val="140000"/>
              </a:lnSpc>
              <a:buNone/>
            </a:pPr>
            <a:r>
              <a:rPr lang="zh-TW" altLang="en-US" sz="1200" dirty="0">
                <a:solidFill>
                  <a:srgbClr val="566171"/>
                </a:solidFill>
                <a:latin typeface="CopyPaste Sans TC" pitchFamily="34" charset="0"/>
                <a:ea typeface="CopyPaste Sans TC" pitchFamily="34" charset="-122"/>
                <a:cs typeface="CopyPaste Sans TC" pitchFamily="34" charset="-120"/>
              </a:rPr>
              <a:t>COPYPASTE / WORKMATE    ·    模擬客戶提案</a:t>
            </a:r>
            <a:endParaRPr lang="zh-TW" sz="1200" dirty="0"/>
          </a:p>
        </p:txBody>
      </p:sp>
      <p:sp>
        <p:nvSpPr>
          <p:cNvPr id="4" name="footer"/>
          <p:cNvSpPr/>
          <p:nvPr/>
        </p:nvSpPr>
        <p:spPr>
          <a:xfrm>
            <a:off x="609600" y="5924550"/>
            <a:ext cx="10096500" cy="285750"/>
          </a:xfrm>
          <a:prstGeom prst="rect">
            <a:avLst/>
          </a:prstGeom>
          <a:noFill/>
          <a:ln/>
        </p:spPr>
        <p:txBody>
          <a:bodyPr wrap="square" lIns="0" tIns="0" rIns="0" bIns="0" rtlCol="0" anchor="t"/>
          <a:lstStyle/>
          <a:p>
            <a:pPr algn="l" indent="0" marL="0">
              <a:lnSpc>
                <a:spcPct val="140000"/>
              </a:lnSpc>
              <a:buNone/>
            </a:pPr>
            <a:r>
              <a:rPr lang="zh-TW" altLang="en-US" sz="1050" dirty="0">
                <a:solidFill>
                  <a:srgbClr val="566171"/>
                </a:solidFill>
                <a:latin typeface="CopyPaste Sans TC" pitchFamily="34" charset="0"/>
                <a:ea typeface="CopyPaste Sans TC" pitchFamily="34" charset="-122"/>
                <a:cs typeface="CopyPaste Sans TC" pitchFamily="34" charset="-120"/>
              </a:rPr>
              <a:t>固定源稿核對 · 可編輯文字及圖形 · 模擬內容</a:t>
            </a:r>
            <a:endParaRPr lang="zh-TW" sz="1050" dirty="0"/>
          </a:p>
        </p:txBody>
      </p:sp>
      <p:sp>
        <p:nvSpPr>
          <p:cNvPr id="5" name="title"/>
          <p:cNvSpPr/>
          <p:nvPr/>
        </p:nvSpPr>
        <p:spPr>
          <a:xfrm>
            <a:off x="609600" y="1123950"/>
            <a:ext cx="10001250" cy="952500"/>
          </a:xfrm>
          <a:prstGeom prst="rect">
            <a:avLst/>
          </a:prstGeom>
          <a:noFill/>
          <a:ln/>
        </p:spPr>
        <p:txBody>
          <a:bodyPr wrap="square" lIns="0" tIns="0" rIns="0" bIns="0" rtlCol="0" anchor="t"/>
          <a:lstStyle/>
          <a:p>
            <a:pPr algn="l" indent="0" marL="0">
              <a:lnSpc>
                <a:spcPct val="140000"/>
              </a:lnSpc>
              <a:buNone/>
            </a:pPr>
            <a:r>
              <a:rPr lang="zh-TW" altLang="en-US" sz="3600" b="1" dirty="0">
                <a:solidFill>
                  <a:srgbClr val="171B22"/>
                </a:solidFill>
                <a:latin typeface="CopyPaste Sans TC" pitchFamily="34" charset="0"/>
                <a:ea typeface="CopyPaste Sans TC" pitchFamily="34" charset="-122"/>
                <a:cs typeface="CopyPaste Sans TC" pitchFamily="34" charset="-120"/>
              </a:rPr>
              <a:t>把內容變成可交付的系統</a:t>
            </a:r>
            <a:endParaRPr lang="zh-TW" sz="3600" dirty="0"/>
          </a:p>
        </p:txBody>
      </p:sp>
      <p:sp>
        <p:nvSpPr>
          <p:cNvPr id="6" name="card0"/>
          <p:cNvSpPr/>
          <p:nvPr/>
        </p:nvSpPr>
        <p:spPr>
          <a:xfrm>
            <a:off x="609600" y="2762250"/>
            <a:ext cx="3086100" cy="2476500"/>
          </a:xfrm>
          <a:prstGeom prst="roundRect">
            <a:avLst>
              <a:gd name="adj" fmla="val 2556"/>
            </a:avLst>
          </a:prstGeom>
          <a:solidFill>
            <a:srgbClr val="FFFFFF"/>
          </a:solidFill>
          <a:ln w="12700">
            <a:solidFill>
              <a:srgbClr val="FFFFFF">
                <a:alpha val="0"/>
              </a:srgbClr>
            </a:solidFill>
            <a:prstDash val="solid"/>
          </a:ln>
        </p:spPr>
      </p:sp>
      <p:sp>
        <p:nvSpPr>
          <p:cNvPr id="7" name="card_title0"/>
          <p:cNvSpPr/>
          <p:nvPr/>
        </p:nvSpPr>
        <p:spPr>
          <a:xfrm>
            <a:off x="876300" y="3124200"/>
            <a:ext cx="2552700" cy="666750"/>
          </a:xfrm>
          <a:prstGeom prst="rect">
            <a:avLst/>
          </a:prstGeom>
          <a:noFill/>
          <a:ln/>
        </p:spPr>
        <p:txBody>
          <a:bodyPr wrap="square" lIns="0" tIns="0" rIns="0" bIns="0" rtlCol="0" anchor="t"/>
          <a:lstStyle/>
          <a:p>
            <a:pPr algn="l" indent="0" marL="0">
              <a:lnSpc>
                <a:spcPct val="140000"/>
              </a:lnSpc>
              <a:buNone/>
            </a:pPr>
            <a:r>
              <a:rPr lang="zh-TW" altLang="en-US" sz="2250" b="1" dirty="0">
                <a:solidFill>
                  <a:srgbClr val="171B22"/>
                </a:solidFill>
                <a:latin typeface="CopyPaste Sans TC" pitchFamily="34" charset="0"/>
                <a:ea typeface="CopyPaste Sans TC" pitchFamily="34" charset="-122"/>
                <a:cs typeface="CopyPaste Sans TC" pitchFamily="34" charset="-120"/>
              </a:rPr>
              <a:t>內容方向</a:t>
            </a:r>
            <a:endParaRPr lang="zh-TW" sz="2250" dirty="0"/>
          </a:p>
        </p:txBody>
      </p:sp>
      <p:sp>
        <p:nvSpPr>
          <p:cNvPr id="8" name="card_body0"/>
          <p:cNvSpPr/>
          <p:nvPr/>
        </p:nvSpPr>
        <p:spPr>
          <a:xfrm>
            <a:off x="876300" y="4048125"/>
            <a:ext cx="2552700" cy="857250"/>
          </a:xfrm>
          <a:prstGeom prst="rect">
            <a:avLst/>
          </a:prstGeom>
          <a:noFill/>
          <a:ln/>
        </p:spPr>
        <p:txBody>
          <a:bodyPr wrap="square" lIns="0" tIns="0" rIns="0" bIns="0" rtlCol="0" anchor="t"/>
          <a:lstStyle/>
          <a:p>
            <a:pPr algn="l" indent="0" marL="0">
              <a:lnSpc>
                <a:spcPct val="140000"/>
              </a:lnSpc>
              <a:buNone/>
            </a:pPr>
            <a:r>
              <a:rPr lang="zh-TW" altLang="en-US" sz="1500" dirty="0">
                <a:solidFill>
                  <a:srgbClr val="566171"/>
                </a:solidFill>
                <a:latin typeface="CopyPaste Sans TC" pitchFamily="34" charset="0"/>
                <a:ea typeface="CopyPaste Sans TC" pitchFamily="34" charset="-122"/>
                <a:cs typeface="CopyPaste Sans TC" pitchFamily="34" charset="-120"/>
              </a:rPr>
              <a:t>明確受眾與目標</a:t>
            </a:r>
            <a:endParaRPr lang="zh-TW" sz="1500" dirty="0"/>
          </a:p>
          <a:p>
            <a:pPr algn="l" indent="0" marL="0">
              <a:lnSpc>
                <a:spcPct val="140000"/>
              </a:lnSpc>
              <a:buNone/>
            </a:pPr>
            <a:r>
              <a:rPr lang="zh-TW" altLang="en-US" sz="1500" dirty="0">
                <a:solidFill>
                  <a:srgbClr val="566171"/>
                </a:solidFill>
                <a:latin typeface="CopyPaste Sans TC" pitchFamily="34" charset="0"/>
                <a:ea typeface="CopyPaste Sans TC" pitchFamily="34" charset="-122"/>
                <a:cs typeface="CopyPaste Sans TC" pitchFamily="34" charset="-120"/>
              </a:rPr>
              <a:t>保留已確認的事實</a:t>
            </a:r>
            <a:endParaRPr lang="zh-TW" sz="1500" dirty="0"/>
          </a:p>
        </p:txBody>
      </p:sp>
      <p:sp>
        <p:nvSpPr>
          <p:cNvPr id="9" name="card1"/>
          <p:cNvSpPr/>
          <p:nvPr/>
        </p:nvSpPr>
        <p:spPr>
          <a:xfrm>
            <a:off x="4038600" y="2762250"/>
            <a:ext cx="3086100" cy="2476500"/>
          </a:xfrm>
          <a:prstGeom prst="roundRect">
            <a:avLst>
              <a:gd name="adj" fmla="val 2556"/>
            </a:avLst>
          </a:prstGeom>
          <a:solidFill>
            <a:srgbClr val="1F5EFF"/>
          </a:solidFill>
          <a:ln w="12700">
            <a:solidFill>
              <a:srgbClr val="FFFFFF">
                <a:alpha val="0"/>
              </a:srgbClr>
            </a:solidFill>
            <a:prstDash val="solid"/>
          </a:ln>
        </p:spPr>
      </p:sp>
      <p:sp>
        <p:nvSpPr>
          <p:cNvPr id="10" name="card_title1"/>
          <p:cNvSpPr/>
          <p:nvPr/>
        </p:nvSpPr>
        <p:spPr>
          <a:xfrm>
            <a:off x="4305300" y="3124200"/>
            <a:ext cx="2552700" cy="666750"/>
          </a:xfrm>
          <a:prstGeom prst="rect">
            <a:avLst/>
          </a:prstGeom>
          <a:noFill/>
          <a:ln/>
        </p:spPr>
        <p:txBody>
          <a:bodyPr wrap="square" lIns="0" tIns="0" rIns="0" bIns="0" rtlCol="0" anchor="t"/>
          <a:lstStyle/>
          <a:p>
            <a:pPr algn="l" indent="0" marL="0">
              <a:lnSpc>
                <a:spcPct val="140000"/>
              </a:lnSpc>
              <a:buNone/>
            </a:pPr>
            <a:r>
              <a:rPr lang="zh-TW" altLang="en-US" sz="2250" b="1" dirty="0">
                <a:solidFill>
                  <a:srgbClr val="FFFFFF"/>
                </a:solidFill>
                <a:latin typeface="CopyPaste Sans TC" pitchFamily="34" charset="0"/>
                <a:ea typeface="CopyPaste Sans TC" pitchFamily="34" charset="-122"/>
                <a:cs typeface="CopyPaste Sans TC" pitchFamily="34" charset="-120"/>
              </a:rPr>
              <a:t>視覺製作</a:t>
            </a:r>
            <a:endParaRPr lang="zh-TW" sz="2250" dirty="0"/>
          </a:p>
        </p:txBody>
      </p:sp>
      <p:sp>
        <p:nvSpPr>
          <p:cNvPr id="11" name="card_body1"/>
          <p:cNvSpPr/>
          <p:nvPr/>
        </p:nvSpPr>
        <p:spPr>
          <a:xfrm>
            <a:off x="4305300" y="4048125"/>
            <a:ext cx="2552700" cy="857250"/>
          </a:xfrm>
          <a:prstGeom prst="rect">
            <a:avLst/>
          </a:prstGeom>
          <a:noFill/>
          <a:ln/>
        </p:spPr>
        <p:txBody>
          <a:bodyPr wrap="square" lIns="0" tIns="0" rIns="0" bIns="0" rtlCol="0" anchor="t"/>
          <a:lstStyle/>
          <a:p>
            <a:pPr algn="l" indent="0" marL="0">
              <a:lnSpc>
                <a:spcPct val="140000"/>
              </a:lnSpc>
              <a:buNone/>
            </a:pPr>
            <a:r>
              <a:rPr lang="zh-TW" altLang="en-US" sz="1500" dirty="0">
                <a:solidFill>
                  <a:srgbClr val="FFFFFF"/>
                </a:solidFill>
                <a:latin typeface="CopyPaste Sans TC" pitchFamily="34" charset="0"/>
                <a:ea typeface="CopyPaste Sans TC" pitchFamily="34" charset="-122"/>
                <a:cs typeface="CopyPaste Sans TC" pitchFamily="34" charset="-120"/>
              </a:rPr>
              <a:t>一致的字體與配色</a:t>
            </a:r>
            <a:endParaRPr lang="zh-TW" sz="1500" dirty="0"/>
          </a:p>
          <a:p>
            <a:pPr algn="l" indent="0" marL="0">
              <a:lnSpc>
                <a:spcPct val="140000"/>
              </a:lnSpc>
              <a:buNone/>
            </a:pPr>
            <a:r>
              <a:rPr lang="zh-TW" altLang="en-US" sz="1500" dirty="0">
                <a:solidFill>
                  <a:srgbClr val="FFFFFF"/>
                </a:solidFill>
                <a:latin typeface="CopyPaste Sans TC" pitchFamily="34" charset="0"/>
                <a:ea typeface="CopyPaste Sans TC" pitchFamily="34" charset="-122"/>
                <a:cs typeface="CopyPaste Sans TC" pitchFamily="34" charset="-120"/>
              </a:rPr>
              <a:t>原生文字與圖形</a:t>
            </a:r>
            <a:endParaRPr lang="zh-TW" sz="1500" dirty="0"/>
          </a:p>
        </p:txBody>
      </p:sp>
      <p:sp>
        <p:nvSpPr>
          <p:cNvPr id="12" name="card2"/>
          <p:cNvSpPr/>
          <p:nvPr/>
        </p:nvSpPr>
        <p:spPr>
          <a:xfrm>
            <a:off x="7467600" y="2762250"/>
            <a:ext cx="3086100" cy="2476500"/>
          </a:xfrm>
          <a:prstGeom prst="roundRect">
            <a:avLst>
              <a:gd name="adj" fmla="val 2556"/>
            </a:avLst>
          </a:prstGeom>
          <a:solidFill>
            <a:srgbClr val="FFFFFF"/>
          </a:solidFill>
          <a:ln w="12700">
            <a:solidFill>
              <a:srgbClr val="FFFFFF">
                <a:alpha val="0"/>
              </a:srgbClr>
            </a:solidFill>
            <a:prstDash val="solid"/>
          </a:ln>
        </p:spPr>
      </p:sp>
      <p:sp>
        <p:nvSpPr>
          <p:cNvPr id="13" name="card_title2"/>
          <p:cNvSpPr/>
          <p:nvPr/>
        </p:nvSpPr>
        <p:spPr>
          <a:xfrm>
            <a:off x="7734300" y="3124200"/>
            <a:ext cx="2552700" cy="666750"/>
          </a:xfrm>
          <a:prstGeom prst="rect">
            <a:avLst/>
          </a:prstGeom>
          <a:noFill/>
          <a:ln/>
        </p:spPr>
        <p:txBody>
          <a:bodyPr wrap="square" lIns="0" tIns="0" rIns="0" bIns="0" rtlCol="0" anchor="t"/>
          <a:lstStyle/>
          <a:p>
            <a:pPr algn="l" indent="0" marL="0">
              <a:lnSpc>
                <a:spcPct val="140000"/>
              </a:lnSpc>
              <a:buNone/>
            </a:pPr>
            <a:r>
              <a:rPr lang="zh-TW" altLang="en-US" sz="2250" b="1" dirty="0">
                <a:solidFill>
                  <a:srgbClr val="171B22"/>
                </a:solidFill>
                <a:latin typeface="CopyPaste Sans TC" pitchFamily="34" charset="0"/>
                <a:ea typeface="CopyPaste Sans TC" pitchFamily="34" charset="-122"/>
                <a:cs typeface="CopyPaste Sans TC" pitchFamily="34" charset="-120"/>
              </a:rPr>
              <a:t>審閱交付</a:t>
            </a:r>
            <a:endParaRPr lang="zh-TW" sz="2250" dirty="0"/>
          </a:p>
        </p:txBody>
      </p:sp>
      <p:sp>
        <p:nvSpPr>
          <p:cNvPr id="14" name="card_body2"/>
          <p:cNvSpPr/>
          <p:nvPr/>
        </p:nvSpPr>
        <p:spPr>
          <a:xfrm>
            <a:off x="7734300" y="4048125"/>
            <a:ext cx="2552700" cy="857250"/>
          </a:xfrm>
          <a:prstGeom prst="rect">
            <a:avLst/>
          </a:prstGeom>
          <a:noFill/>
          <a:ln/>
        </p:spPr>
        <p:txBody>
          <a:bodyPr wrap="square" lIns="0" tIns="0" rIns="0" bIns="0" rtlCol="0" anchor="t"/>
          <a:lstStyle/>
          <a:p>
            <a:pPr algn="l" indent="0" marL="0">
              <a:lnSpc>
                <a:spcPct val="140000"/>
              </a:lnSpc>
              <a:buNone/>
            </a:pPr>
            <a:r>
              <a:rPr lang="zh-TW" altLang="en-US" sz="1500" dirty="0">
                <a:solidFill>
                  <a:srgbClr val="566171"/>
                </a:solidFill>
                <a:latin typeface="CopyPaste Sans TC" pitchFamily="34" charset="0"/>
                <a:ea typeface="CopyPaste Sans TC" pitchFamily="34" charset="-122"/>
                <a:cs typeface="CopyPaste Sans TC" pitchFamily="34" charset="-120"/>
              </a:rPr>
              <a:t>逐頁核對內容</a:t>
            </a:r>
            <a:endParaRPr lang="zh-TW" sz="1500" dirty="0"/>
          </a:p>
          <a:p>
            <a:pPr algn="l" indent="0" marL="0">
              <a:lnSpc>
                <a:spcPct val="140000"/>
              </a:lnSpc>
              <a:buNone/>
            </a:pPr>
            <a:r>
              <a:rPr lang="zh-TW" altLang="en-US" sz="1500" dirty="0">
                <a:solidFill>
                  <a:srgbClr val="566171"/>
                </a:solidFill>
                <a:latin typeface="CopyPaste Sans TC" pitchFamily="34" charset="0"/>
                <a:ea typeface="CopyPaste Sans TC" pitchFamily="34" charset="-122"/>
                <a:cs typeface="CopyPaste Sans TC" pitchFamily="34" charset="-120"/>
              </a:rPr>
              <a:t>保留源稿及修改記錄</a:t>
            </a:r>
            <a:endParaRPr lang="zh-TW"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6F4"/>
        </a:solidFill>
      </p:bgPr>
    </p:bg>
    <p:spTree>
      <p:nvGrpSpPr>
        <p:cNvPr id="1" name=""/>
        <p:cNvGrpSpPr/>
        <p:nvPr/>
      </p:nvGrpSpPr>
      <p:grpSpPr>
        <a:xfrm>
          <a:off x="0" y="0"/>
          <a:ext cx="0" cy="0"/>
          <a:chOff x="0" y="0"/>
          <a:chExt cx="0" cy="0"/>
        </a:xfrm>
      </p:grpSpPr>
      <p:sp>
        <p:nvSpPr>
          <p:cNvPr id="3" name="label"/>
          <p:cNvSpPr/>
          <p:nvPr/>
        </p:nvSpPr>
        <p:spPr>
          <a:xfrm>
            <a:off x="609600" y="361950"/>
            <a:ext cx="10001250" cy="285750"/>
          </a:xfrm>
          <a:prstGeom prst="rect">
            <a:avLst/>
          </a:prstGeom>
          <a:noFill/>
          <a:ln/>
        </p:spPr>
        <p:txBody>
          <a:bodyPr wrap="square" lIns="0" tIns="0" rIns="0" bIns="0" rtlCol="0" anchor="t"/>
          <a:lstStyle/>
          <a:p>
            <a:pPr algn="l" indent="0" marL="0">
              <a:lnSpc>
                <a:spcPct val="140000"/>
              </a:lnSpc>
              <a:buNone/>
            </a:pPr>
            <a:r>
              <a:rPr lang="zh-TW" altLang="en-US" sz="1200" dirty="0">
                <a:solidFill>
                  <a:srgbClr val="566171"/>
                </a:solidFill>
                <a:latin typeface="CopyPaste Sans TC" pitchFamily="34" charset="0"/>
                <a:ea typeface="CopyPaste Sans TC" pitchFamily="34" charset="-122"/>
                <a:cs typeface="CopyPaste Sans TC" pitchFamily="34" charset="-120"/>
              </a:rPr>
              <a:t>COPYPASTE / WORKMATE    ·    模擬客戶提案</a:t>
            </a:r>
            <a:endParaRPr lang="zh-TW" sz="1200" dirty="0"/>
          </a:p>
        </p:txBody>
      </p:sp>
      <p:sp>
        <p:nvSpPr>
          <p:cNvPr id="4" name="footer"/>
          <p:cNvSpPr/>
          <p:nvPr/>
        </p:nvSpPr>
        <p:spPr>
          <a:xfrm>
            <a:off x="609600" y="5924550"/>
            <a:ext cx="10096500" cy="285750"/>
          </a:xfrm>
          <a:prstGeom prst="rect">
            <a:avLst/>
          </a:prstGeom>
          <a:noFill/>
          <a:ln/>
        </p:spPr>
        <p:txBody>
          <a:bodyPr wrap="square" lIns="0" tIns="0" rIns="0" bIns="0" rtlCol="0" anchor="t"/>
          <a:lstStyle/>
          <a:p>
            <a:pPr algn="l" indent="0" marL="0">
              <a:lnSpc>
                <a:spcPct val="140000"/>
              </a:lnSpc>
              <a:buNone/>
            </a:pPr>
            <a:r>
              <a:rPr lang="zh-TW" altLang="en-US" sz="1050" dirty="0">
                <a:solidFill>
                  <a:srgbClr val="566171"/>
                </a:solidFill>
                <a:latin typeface="CopyPaste Sans TC" pitchFamily="34" charset="0"/>
                <a:ea typeface="CopyPaste Sans TC" pitchFamily="34" charset="-122"/>
                <a:cs typeface="CopyPaste Sans TC" pitchFamily="34" charset="-120"/>
              </a:rPr>
              <a:t>固定源稿核對 · 可編輯文字及圖形 · 模擬內容</a:t>
            </a:r>
            <a:endParaRPr lang="zh-TW" sz="1050" dirty="0"/>
          </a:p>
        </p:txBody>
      </p:sp>
      <p:sp>
        <p:nvSpPr>
          <p:cNvPr id="5" name="title"/>
          <p:cNvSpPr/>
          <p:nvPr/>
        </p:nvSpPr>
        <p:spPr>
          <a:xfrm>
            <a:off x="609600" y="1123950"/>
            <a:ext cx="10287000" cy="952500"/>
          </a:xfrm>
          <a:prstGeom prst="rect">
            <a:avLst/>
          </a:prstGeom>
          <a:noFill/>
          <a:ln/>
        </p:spPr>
        <p:txBody>
          <a:bodyPr wrap="square" lIns="0" tIns="0" rIns="0" bIns="0" rtlCol="0" anchor="t"/>
          <a:lstStyle/>
          <a:p>
            <a:pPr algn="l" indent="0" marL="0">
              <a:lnSpc>
                <a:spcPct val="140000"/>
              </a:lnSpc>
              <a:buNone/>
            </a:pPr>
            <a:r>
              <a:rPr lang="zh-TW" altLang="en-US" sz="3450" b="1" dirty="0">
                <a:solidFill>
                  <a:srgbClr val="171B22"/>
                </a:solidFill>
                <a:latin typeface="CopyPaste Sans TC" pitchFamily="34" charset="0"/>
                <a:ea typeface="CopyPaste Sans TC" pitchFamily="34" charset="-122"/>
                <a:cs typeface="CopyPaste Sans TC" pitchFamily="34" charset="-120"/>
              </a:rPr>
              <a:t>下一步：審閱、修改、再交付</a:t>
            </a:r>
            <a:endParaRPr lang="zh-TW" sz="3450" dirty="0"/>
          </a:p>
        </p:txBody>
      </p:sp>
      <p:sp>
        <p:nvSpPr>
          <p:cNvPr id="6" name="body"/>
          <p:cNvSpPr/>
          <p:nvPr/>
        </p:nvSpPr>
        <p:spPr>
          <a:xfrm>
            <a:off x="609600" y="2667000"/>
            <a:ext cx="7810500" cy="2000250"/>
          </a:xfrm>
          <a:prstGeom prst="rect">
            <a:avLst/>
          </a:prstGeom>
          <a:noFill/>
          <a:ln/>
        </p:spPr>
        <p:txBody>
          <a:bodyPr wrap="square" lIns="0" tIns="0" rIns="0" bIns="0" rtlCol="0" anchor="t"/>
          <a:lstStyle/>
          <a:p>
            <a:pPr algn="l" indent="0" marL="0">
              <a:lnSpc>
                <a:spcPct val="140000"/>
              </a:lnSpc>
              <a:buNone/>
            </a:pPr>
            <a:r>
              <a:rPr lang="zh-TW" altLang="en-US" sz="2400" dirty="0">
                <a:solidFill>
                  <a:srgbClr val="566171"/>
                </a:solidFill>
                <a:latin typeface="CopyPaste Sans TC" pitchFamily="34" charset="0"/>
                <a:ea typeface="CopyPaste Sans TC" pitchFamily="34" charset="-122"/>
                <a:cs typeface="CopyPaste Sans TC" pitchFamily="34" charset="-120"/>
              </a:rPr>
              <a:t>保留可編輯檔案和固定源稿</a:t>
            </a:r>
            <a:endParaRPr lang="zh-TW" sz="2400" dirty="0"/>
          </a:p>
          <a:p>
            <a:pPr algn="l" indent="0" marL="0">
              <a:lnSpc>
                <a:spcPct val="140000"/>
              </a:lnSpc>
              <a:buNone/>
            </a:pPr>
            <a:r>
              <a:rPr lang="zh-TW" altLang="en-US" sz="2400" dirty="0">
                <a:solidFill>
                  <a:srgbClr val="566171"/>
                </a:solidFill>
                <a:latin typeface="CopyPaste Sans TC" pitchFamily="34" charset="0"/>
                <a:ea typeface="CopyPaste Sans TC" pitchFamily="34" charset="-122"/>
                <a:cs typeface="CopyPaste Sans TC" pitchFamily="34" charset="-120"/>
              </a:rPr>
              <a:t>針對指定頁面提出修改</a:t>
            </a:r>
            <a:endParaRPr lang="zh-TW" sz="2400" dirty="0"/>
          </a:p>
          <a:p>
            <a:pPr algn="l" indent="0" marL="0">
              <a:lnSpc>
                <a:spcPct val="140000"/>
              </a:lnSpc>
              <a:buNone/>
            </a:pPr>
            <a:r>
              <a:rPr lang="zh-TW" altLang="en-US" sz="2400" dirty="0">
                <a:solidFill>
                  <a:srgbClr val="566171"/>
                </a:solidFill>
                <a:latin typeface="CopyPaste Sans TC" pitchFamily="34" charset="0"/>
                <a:ea typeface="CopyPaste Sans TC" pitchFamily="34" charset="-122"/>
                <a:cs typeface="CopyPaste Sans TC" pitchFamily="34" charset="-120"/>
              </a:rPr>
              <a:t>每一次修訂，都保留原有版本</a:t>
            </a:r>
            <a:endParaRPr lang="zh-TW" sz="2400" dirty="0"/>
          </a:p>
        </p:txBody>
      </p:sp>
      <p:sp>
        <p:nvSpPr>
          <p:cNvPr id="7" name="identity"/>
          <p:cNvSpPr/>
          <p:nvPr/>
        </p:nvSpPr>
        <p:spPr>
          <a:xfrm>
            <a:off x="9144000" y="2952750"/>
            <a:ext cx="1409700" cy="1409700"/>
          </a:xfrm>
          <a:custGeom>
            <a:avLst/>
            <a:gdLst/>
            <a:ahLst/>
            <a:cxnLst/>
            <a:rect l="l" t="t" r="r" b="b"/>
            <a:pathLst>
              <a:path w="1409700" h="1409700">
                <a:moveTo>
                  <a:pt x="0" y="0"/>
                </a:moveTo>
                <a:lnTo>
                  <a:pt x="944499" y="0"/>
                </a:lnTo>
                <a:lnTo>
                  <a:pt x="1409700" y="465201"/>
                </a:lnTo>
                <a:lnTo>
                  <a:pt x="1409700" y="1409700"/>
                </a:lnTo>
                <a:lnTo>
                  <a:pt x="465201" y="1409700"/>
                </a:lnTo>
                <a:lnTo>
                  <a:pt x="0" y="944499"/>
                </a:lnTo>
                <a:close/>
              </a:path>
            </a:pathLst>
          </a:custGeom>
          <a:solidFill>
            <a:srgbClr val="1F5EFF"/>
          </a:solidFill>
          <a:ln w="12700">
            <a:solidFill>
              <a:srgbClr val="FFFFFF">
                <a:alpha val="0"/>
              </a:srgbClr>
            </a:solidFill>
            <a:prstDash val="solid"/>
          </a:ln>
        </p:spPr>
      </p:sp>
      <p:sp>
        <p:nvSpPr>
          <p:cNvPr id="8" name="rule"/>
          <p:cNvSpPr/>
          <p:nvPr/>
        </p:nvSpPr>
        <p:spPr>
          <a:xfrm>
            <a:off x="609600" y="5286375"/>
            <a:ext cx="9944100" cy="38100"/>
          </a:xfrm>
          <a:prstGeom prst="rect">
            <a:avLst/>
          </a:prstGeom>
          <a:solidFill>
            <a:srgbClr val="1F5EFF"/>
          </a:solidFill>
          <a:ln w="12700">
            <a:solidFill>
              <a:srgbClr val="FFFFFF">
                <a:alpha val="0"/>
              </a:srgbClr>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opyPaste Sans T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opyPaste Sans T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CopyPaste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Workmate · 從想法到交付</dc:title>
  <dc:subject>Review a coordinated editable proposal and request precise changes.</dc:subject>
  <dc:creator>CopyPaste Workmate</dc:creator>
  <cp:lastModifiedBy>CopyPaste Workmate</cp:lastModifiedBy>
  <cp:revision>1</cp:revision>
  <dcterms:created xsi:type="dcterms:W3CDTF">2026-10-25T15:36:24Z</dcterms:created>
  <dcterms:modified xsi:type="dcterms:W3CDTF">2026-10-25T15:36:24Z</dcterms:modified>
</cp:coreProperties>
</file>